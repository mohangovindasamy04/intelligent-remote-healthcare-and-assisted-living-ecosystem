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02"/>
  </p:normalViewPr>
  <p:slideViewPr>
    <p:cSldViewPr snapToGrid="0" snapToObjects="1" showGuides="1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2413546"/>
            <a:ext cx="7443020" cy="2386584"/>
          </a:xfrm>
        </p:spPr>
        <p:txBody>
          <a:bodyPr/>
          <a:lstStyle/>
          <a:p>
            <a:r>
              <a:rPr lang="en-US" dirty="0"/>
              <a:t>INTELLIGENT REMOTE HEALTHCARE AND ASSISTED LIVING ECOSYSTEM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6925519" y="1015678"/>
            <a:ext cx="5266481" cy="5842322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5255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790926"/>
            <a:ext cx="10582853" cy="1421928"/>
          </a:xfrm>
        </p:spPr>
        <p:txBody>
          <a:bodyPr/>
          <a:lstStyle/>
          <a:p>
            <a:r>
              <a:rPr lang="en-IN" sz="3200" dirty="0"/>
              <a:t>INTELLIGENT REMOTE HEALTHCARE AND ASSISTED LIVING ECOSYSTEM</a:t>
            </a:r>
            <a:endParaRPr lang="en-US" sz="32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7" y="2199877"/>
            <a:ext cx="10799411" cy="428941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Smart IoT-Based Patient Monitoring, Fall Detection &amp; Emergency Alert System</a:t>
            </a:r>
          </a:p>
          <a:p>
            <a:pPr marL="0" indent="0">
              <a:buNone/>
            </a:pPr>
            <a:r>
              <a:rPr lang="en-IN" b="1" dirty="0"/>
              <a:t>Main Technologies:</a:t>
            </a:r>
            <a:endParaRPr lang="en-IN" dirty="0"/>
          </a:p>
          <a:p>
            <a:pPr lvl="0"/>
            <a:r>
              <a:rPr lang="en-IN" dirty="0"/>
              <a:t>ESP32 </a:t>
            </a:r>
          </a:p>
          <a:p>
            <a:pPr lvl="0"/>
            <a:r>
              <a:rPr lang="en-IN" dirty="0"/>
              <a:t>Blynk IoT </a:t>
            </a:r>
          </a:p>
          <a:p>
            <a:pPr lvl="0"/>
            <a:r>
              <a:rPr lang="en-IN" dirty="0"/>
              <a:t>MAX30102 Heart Rate &amp; SpO₂ Sensor </a:t>
            </a:r>
          </a:p>
          <a:p>
            <a:pPr lvl="0"/>
            <a:r>
              <a:rPr lang="en-IN" dirty="0"/>
              <a:t>MPU6050 Fall Detection Sensor </a:t>
            </a:r>
          </a:p>
          <a:p>
            <a:pPr lvl="0"/>
            <a:r>
              <a:rPr lang="en-IN" dirty="0"/>
              <a:t>MLX90614 Temperature Sensor </a:t>
            </a:r>
          </a:p>
          <a:p>
            <a:pPr lvl="0"/>
            <a:r>
              <a:rPr lang="en-IN" dirty="0"/>
              <a:t>OLED Display </a:t>
            </a:r>
          </a:p>
          <a:p>
            <a:pPr lvl="0"/>
            <a:r>
              <a:rPr lang="en-IN" dirty="0"/>
              <a:t>SOS Push Button </a:t>
            </a:r>
          </a:p>
          <a:p>
            <a:pPr lvl="0"/>
            <a:r>
              <a:rPr lang="en-IN" dirty="0"/>
              <a:t>Buzzer 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6945"/>
            <a:ext cx="10515600" cy="590931"/>
          </a:xfrm>
        </p:spPr>
        <p:txBody>
          <a:bodyPr/>
          <a:lstStyle/>
          <a:p>
            <a:r>
              <a:rPr lang="en-US" dirty="0"/>
              <a:t>Double Content Slide           OBJECTIVES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7" y="1844605"/>
            <a:ext cx="5017796" cy="4485941"/>
          </a:xfrm>
        </p:spPr>
        <p:txBody>
          <a:bodyPr/>
          <a:lstStyle/>
          <a:p>
            <a:r>
              <a:rPr lang="en-IN" dirty="0"/>
              <a:t>An IoT-based system that monitors important patient health parameters and provides remote healthcare assistance for elderly people and patients.</a:t>
            </a:r>
          </a:p>
          <a:p>
            <a:r>
              <a:rPr lang="en-IN" dirty="0"/>
              <a:t>The </a:t>
            </a:r>
            <a:r>
              <a:rPr lang="en-IN" b="1" dirty="0"/>
              <a:t>ESP32</a:t>
            </a:r>
            <a:r>
              <a:rPr lang="en-IN" dirty="0"/>
              <a:t> collects heart rate, SpO₂, temperature and motion data from the connected sensors.</a:t>
            </a:r>
          </a:p>
          <a:p>
            <a:r>
              <a:rPr lang="en-IN" dirty="0"/>
              <a:t>The health data is displayed locally through the </a:t>
            </a:r>
            <a:r>
              <a:rPr lang="en-IN" b="1" dirty="0"/>
              <a:t>OLED display</a:t>
            </a:r>
            <a:r>
              <a:rPr lang="en-IN" dirty="0"/>
              <a:t> and remotely through </a:t>
            </a:r>
            <a:r>
              <a:rPr lang="en-IN" b="1" dirty="0"/>
              <a:t>Blynk IoT</a:t>
            </a:r>
            <a:r>
              <a:rPr lang="en-IN" dirty="0"/>
              <a:t>.</a:t>
            </a:r>
          </a:p>
          <a:p>
            <a:r>
              <a:rPr lang="en-IN" dirty="0"/>
              <a:t>The system also detects possible falls and provides </a:t>
            </a:r>
            <a:r>
              <a:rPr lang="en-IN" b="1" dirty="0"/>
              <a:t>SOS and emergency buzzer alerts</a:t>
            </a:r>
            <a:r>
              <a:rPr lang="en-IN" dirty="0"/>
              <a:t> when assistance is required.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5FC65B-DEB7-A117-59BA-FFC3E56C2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4728" y="1822797"/>
            <a:ext cx="6341806" cy="448328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To develop a compact, low-cost and intelligent remote healthcare monitoring system</a:t>
            </a:r>
          </a:p>
          <a:p>
            <a:pPr lvl="0"/>
            <a:r>
              <a:rPr lang="en-IN" dirty="0"/>
              <a:t>Monitor heart rate. </a:t>
            </a:r>
          </a:p>
          <a:p>
            <a:pPr lvl="0"/>
            <a:r>
              <a:rPr lang="en-IN" dirty="0"/>
              <a:t>Measure SpO₂ level. </a:t>
            </a:r>
          </a:p>
          <a:p>
            <a:pPr lvl="0"/>
            <a:r>
              <a:rPr lang="en-IN" dirty="0"/>
              <a:t>Monitor body temperature. </a:t>
            </a:r>
          </a:p>
          <a:p>
            <a:pPr lvl="0"/>
            <a:r>
              <a:rPr lang="en-IN" dirty="0"/>
              <a:t>Detect possible falls. </a:t>
            </a:r>
          </a:p>
          <a:p>
            <a:pPr lvl="0"/>
            <a:r>
              <a:rPr lang="en-IN" dirty="0"/>
              <a:t>Provide an emergency SOS button. </a:t>
            </a:r>
          </a:p>
          <a:p>
            <a:pPr lvl="0"/>
            <a:r>
              <a:rPr lang="en-IN" dirty="0"/>
              <a:t>Generate buzzer alerts during emergencies. </a:t>
            </a:r>
          </a:p>
          <a:p>
            <a:pPr lvl="0"/>
            <a:r>
              <a:rPr lang="en-IN" dirty="0"/>
              <a:t>Provide remote monitoring using Blynk IoT. </a:t>
            </a:r>
          </a:p>
          <a:p>
            <a:pPr lvl="0"/>
            <a:r>
              <a:rPr lang="en-IN" dirty="0"/>
              <a:t>Display health parameters locally using OLED. </a:t>
            </a:r>
          </a:p>
          <a:p>
            <a:pPr lvl="0"/>
            <a:r>
              <a:rPr lang="en-IN" dirty="0"/>
              <a:t>Support elderly people and patients in assisted living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70519"/>
            <a:ext cx="6951472" cy="590931"/>
          </a:xfrm>
        </p:spPr>
        <p:txBody>
          <a:bodyPr/>
          <a:lstStyle/>
          <a:p>
            <a:r>
              <a:rPr lang="en-US" dirty="0"/>
              <a:t>Bulleted List Slide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D5515-6276-4881-A3CD-953AD66FA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86" y="2115449"/>
            <a:ext cx="11304149" cy="4742551"/>
          </a:xfrm>
        </p:spPr>
        <p:txBody>
          <a:bodyPr/>
          <a:lstStyle/>
          <a:p>
            <a:pPr lvl="0"/>
            <a:r>
              <a:rPr lang="en-IN" sz="2000" b="1" dirty="0"/>
              <a:t>MAX30102</a:t>
            </a:r>
            <a:r>
              <a:rPr lang="en-IN" sz="2000" dirty="0"/>
              <a:t> – Measures heart rate and SpO₂. </a:t>
            </a:r>
          </a:p>
          <a:p>
            <a:pPr lvl="0"/>
            <a:r>
              <a:rPr lang="en-IN" sz="2000" b="1" dirty="0"/>
              <a:t>MPU6050</a:t>
            </a:r>
            <a:r>
              <a:rPr lang="en-IN" sz="2000" dirty="0"/>
              <a:t> – Detects sudden movement and possible falls. </a:t>
            </a:r>
          </a:p>
          <a:p>
            <a:pPr lvl="0"/>
            <a:r>
              <a:rPr lang="en-IN" sz="2000" b="1" dirty="0"/>
              <a:t>MLX90614</a:t>
            </a:r>
            <a:r>
              <a:rPr lang="en-IN" sz="2000" dirty="0"/>
              <a:t> – Measures non-contact temperature. </a:t>
            </a:r>
          </a:p>
          <a:p>
            <a:pPr lvl="0"/>
            <a:r>
              <a:rPr lang="en-IN" sz="2000" b="1" dirty="0"/>
              <a:t>ESP32</a:t>
            </a:r>
            <a:r>
              <a:rPr lang="en-IN" sz="2000" dirty="0"/>
              <a:t> – Main controller and Wi-Fi communication. </a:t>
            </a:r>
          </a:p>
          <a:p>
            <a:pPr lvl="0"/>
            <a:r>
              <a:rPr lang="en-IN" sz="2000" b="1" dirty="0"/>
              <a:t>OLED Display</a:t>
            </a:r>
            <a:r>
              <a:rPr lang="en-IN" sz="2000" dirty="0"/>
              <a:t> – Displays health parameters locally. </a:t>
            </a:r>
          </a:p>
          <a:p>
            <a:pPr lvl="0"/>
            <a:r>
              <a:rPr lang="en-IN" sz="2000" b="1" dirty="0"/>
              <a:t>Buzzer</a:t>
            </a:r>
            <a:r>
              <a:rPr lang="en-IN" sz="2000" dirty="0"/>
              <a:t> – Provides emergency audio alerts. </a:t>
            </a:r>
          </a:p>
          <a:p>
            <a:pPr lvl="0"/>
            <a:r>
              <a:rPr lang="en-IN" sz="2000" b="1" dirty="0"/>
              <a:t>SOS Push Button</a:t>
            </a:r>
            <a:r>
              <a:rPr lang="en-IN" sz="2000" dirty="0"/>
              <a:t> – Allows the user to manually request help. </a:t>
            </a:r>
          </a:p>
          <a:p>
            <a:pPr lvl="0"/>
            <a:r>
              <a:rPr lang="en-IN" sz="2000" b="1" dirty="0"/>
              <a:t>Blynk IoT</a:t>
            </a:r>
            <a:r>
              <a:rPr lang="en-IN" sz="2000" dirty="0"/>
              <a:t> – Provides remote monitoring of patient health data.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41" y="1019358"/>
            <a:ext cx="10515600" cy="590931"/>
          </a:xfrm>
        </p:spPr>
        <p:txBody>
          <a:bodyPr/>
          <a:lstStyle/>
          <a:p>
            <a:r>
              <a:rPr lang="en-US" dirty="0"/>
              <a:t>Comparison Slide</a:t>
            </a:r>
          </a:p>
        </p:txBody>
      </p:sp>
      <p:sp>
        <p:nvSpPr>
          <p:cNvPr id="13" name="Compare Section">
            <a:extLst>
              <a:ext uri="{FF2B5EF4-FFF2-40B4-BE49-F238E27FC236}">
                <a16:creationId xmlns:a16="http://schemas.microsoft.com/office/drawing/2014/main" id="{384880BB-377B-F24A-A7CA-B308CACE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1630618"/>
            <a:ext cx="5138928" cy="450829"/>
          </a:xfrm>
        </p:spPr>
        <p:txBody>
          <a:bodyPr/>
          <a:lstStyle/>
          <a:p>
            <a:r>
              <a:rPr lang="en-US" sz="2000" dirty="0"/>
              <a:t>Compare Section</a:t>
            </a:r>
          </a:p>
        </p:txBody>
      </p:sp>
      <p:sp>
        <p:nvSpPr>
          <p:cNvPr id="14" name="Compare Section - Text">
            <a:extLst>
              <a:ext uri="{FF2B5EF4-FFF2-40B4-BE49-F238E27FC236}">
                <a16:creationId xmlns:a16="http://schemas.microsoft.com/office/drawing/2014/main" id="{48B0953F-74D7-0140-8C86-93FC4F66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341" y="2151984"/>
            <a:ext cx="4222969" cy="3535744"/>
          </a:xfrm>
        </p:spPr>
        <p:txBody>
          <a:bodyPr/>
          <a:lstStyle/>
          <a:p>
            <a:r>
              <a:rPr lang="en-IN" sz="2000" dirty="0"/>
              <a:t>Traditional healthcare monitoring mainly depends on </a:t>
            </a:r>
            <a:r>
              <a:rPr lang="en-IN" sz="2000" b="1" dirty="0"/>
              <a:t>manual observation and periodic physical check-ups</a:t>
            </a:r>
            <a:r>
              <a:rPr lang="en-IN" sz="2000" dirty="0"/>
              <a:t>.</a:t>
            </a:r>
          </a:p>
          <a:p>
            <a:r>
              <a:rPr lang="en-IN" sz="2000" dirty="0"/>
              <a:t>The proposed system uses </a:t>
            </a:r>
            <a:r>
              <a:rPr lang="en-IN" sz="2000" b="1" dirty="0"/>
              <a:t>ESP32 and healthcare sensors</a:t>
            </a:r>
            <a:r>
              <a:rPr lang="en-IN" sz="2000" dirty="0"/>
              <a:t> to continuously monitor important health parameters and provide remote access to the collected information.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2000" dirty="0"/>
          </a:p>
        </p:txBody>
      </p:sp>
      <p:sp>
        <p:nvSpPr>
          <p:cNvPr id="15" name="Contrast Section">
            <a:extLst>
              <a:ext uri="{FF2B5EF4-FFF2-40B4-BE49-F238E27FC236}">
                <a16:creationId xmlns:a16="http://schemas.microsoft.com/office/drawing/2014/main" id="{E0F9A328-ECA9-CC4E-B0A6-FA23EEE9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53781" y="1628781"/>
            <a:ext cx="6168857" cy="450829"/>
          </a:xfrm>
        </p:spPr>
        <p:txBody>
          <a:bodyPr/>
          <a:lstStyle/>
          <a:p>
            <a:r>
              <a:rPr lang="en-US" sz="2000" dirty="0"/>
              <a:t>Contrast Section</a:t>
            </a:r>
          </a:p>
        </p:txBody>
      </p:sp>
      <p:sp>
        <p:nvSpPr>
          <p:cNvPr id="16" name="Contrast Section - Text">
            <a:extLst>
              <a:ext uri="{FF2B5EF4-FFF2-40B4-BE49-F238E27FC236}">
                <a16:creationId xmlns:a16="http://schemas.microsoft.com/office/drawing/2014/main" id="{2EBC524D-C050-3F4A-88E2-E7EBEEE90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53781" y="2153031"/>
            <a:ext cx="6571291" cy="3538728"/>
          </a:xfrm>
        </p:spPr>
        <p:txBody>
          <a:bodyPr/>
          <a:lstStyle/>
          <a:p>
            <a:pPr lvl="0"/>
            <a:r>
              <a:rPr lang="en-IN" sz="2000" b="1" dirty="0"/>
              <a:t>Continuous remote monitoring</a:t>
            </a:r>
            <a:r>
              <a:rPr lang="en-IN" sz="2000" dirty="0"/>
              <a:t> of patient health parameters using ESP32, sensors, and Blynk IoT. </a:t>
            </a:r>
          </a:p>
          <a:p>
            <a:pPr lvl="0"/>
            <a:r>
              <a:rPr lang="en-IN" sz="2000" b="1" dirty="0"/>
              <a:t>Automatic fall detection</a:t>
            </a:r>
            <a:r>
              <a:rPr lang="en-IN" sz="2000" dirty="0"/>
              <a:t> using the MPU6050 sensor for improved patient safety. </a:t>
            </a:r>
          </a:p>
          <a:p>
            <a:pPr lvl="0"/>
            <a:r>
              <a:rPr lang="en-IN" sz="2000" b="1" dirty="0"/>
              <a:t>Emergency assistance</a:t>
            </a:r>
            <a:r>
              <a:rPr lang="en-IN" sz="2000" dirty="0"/>
              <a:t> through the SOS button and buzzer alert system. </a:t>
            </a:r>
          </a:p>
          <a:p>
            <a:endParaRPr lang="en-IN" sz="2000" dirty="0"/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" y="1068572"/>
            <a:ext cx="4248912" cy="590931"/>
          </a:xfrm>
        </p:spPr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4229366B-9DFE-0244-A864-A3ECC8897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68" y="1666529"/>
            <a:ext cx="5036558" cy="4634165"/>
          </a:xfrm>
        </p:spPr>
        <p:txBody>
          <a:bodyPr/>
          <a:lstStyle/>
          <a:p>
            <a:r>
              <a:rPr lang="en-IN" dirty="0"/>
              <a:t>The prototype consists of an </a:t>
            </a:r>
            <a:r>
              <a:rPr lang="en-IN" b="1" dirty="0"/>
              <a:t>ESP32 connected to heart rate, SpO₂, temperature and motion sensors</a:t>
            </a:r>
            <a:r>
              <a:rPr lang="en-IN" dirty="0"/>
              <a:t>.</a:t>
            </a:r>
          </a:p>
          <a:p>
            <a:r>
              <a:rPr lang="en-IN" dirty="0"/>
              <a:t>The ESP32 collects sensor readings and displays the information on the OLED display.</a:t>
            </a:r>
          </a:p>
          <a:p>
            <a:r>
              <a:rPr lang="en-IN" dirty="0"/>
              <a:t>The </a:t>
            </a:r>
            <a:r>
              <a:rPr lang="en-IN" b="1" dirty="0"/>
              <a:t>MPU6050</a:t>
            </a:r>
            <a:r>
              <a:rPr lang="en-IN" dirty="0"/>
              <a:t> monitors movement and detects possible falls.</a:t>
            </a:r>
          </a:p>
          <a:p>
            <a:r>
              <a:rPr lang="en-IN" dirty="0"/>
              <a:t>The </a:t>
            </a:r>
            <a:r>
              <a:rPr lang="en-IN" b="1" dirty="0"/>
              <a:t>SOS push button</a:t>
            </a:r>
            <a:r>
              <a:rPr lang="en-IN" dirty="0"/>
              <a:t> allows the user to manually trigger an emergency alert, while the buzzer provides a local warning.</a:t>
            </a:r>
          </a:p>
          <a:p>
            <a:r>
              <a:rPr lang="en-IN" dirty="0"/>
              <a:t>The sensor data is sent through Wi-Fi to the </a:t>
            </a:r>
            <a:r>
              <a:rPr lang="en-IN" b="1" dirty="0"/>
              <a:t>Blynk IoT dashboard</a:t>
            </a:r>
            <a:r>
              <a:rPr lang="en-IN" dirty="0"/>
              <a:t> for remote monitoring.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D8FCB22-2DC7-E144-8B90-49F436AB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88968"/>
            <a:ext cx="5135372" cy="490347"/>
          </a:xfrm>
        </p:spPr>
        <p:txBody>
          <a:bodyPr/>
          <a:lstStyle/>
          <a:p>
            <a:r>
              <a:rPr lang="en-US" dirty="0"/>
              <a:t>Detection Breakdown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8625A-112E-464F-ACA3-9912D8075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9910"/>
              </p:ext>
            </p:extLst>
          </p:nvPr>
        </p:nvGraphicFramePr>
        <p:xfrm>
          <a:off x="566929" y="2007476"/>
          <a:ext cx="10515599" cy="4184604"/>
        </p:xfrm>
        <a:graphic>
          <a:graphicData uri="http://schemas.openxmlformats.org/drawingml/2006/table">
            <a:tbl>
              <a:tblPr/>
              <a:tblGrid>
                <a:gridCol w="2221568">
                  <a:extLst>
                    <a:ext uri="{9D8B030D-6E8A-4147-A177-3AD203B41FA5}">
                      <a16:colId xmlns:a16="http://schemas.microsoft.com/office/drawing/2014/main" val="3801361345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543861333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301260947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4003633720"/>
                    </a:ext>
                  </a:extLst>
                </a:gridCol>
              </a:tblGrid>
              <a:tr h="643786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259409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09118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78474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51411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3757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D64B9FF-B9CF-2965-3F91-FD101B1FC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29" y="1700656"/>
            <a:ext cx="9440197" cy="44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FCAC153A-38CE-CA14-5FC1-834EFDDF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377298"/>
            <a:ext cx="10137875" cy="3968249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Intelligent Remote Healthcare and Assisted Living Ecosystem</a:t>
            </a:r>
            <a:r>
              <a:rPr lang="en-IN" dirty="0"/>
              <a:t> combines </a:t>
            </a:r>
            <a:r>
              <a:rPr lang="en-IN" b="1" dirty="0"/>
              <a:t>ESP32, healthcare sensors, Blynk IoT, local monitoring and emergency alert systems</a:t>
            </a:r>
            <a:r>
              <a:rPr lang="en-IN" dirty="0"/>
              <a:t>.</a:t>
            </a:r>
          </a:p>
          <a:p>
            <a:r>
              <a:rPr lang="en-IN" dirty="0"/>
              <a:t>The system provides </a:t>
            </a:r>
            <a:r>
              <a:rPr lang="en-IN" b="1" dirty="0"/>
              <a:t>real-time health monitoring, remote access, fall detection, SOS assistance and emergency alerts</a:t>
            </a:r>
            <a:r>
              <a:rPr lang="en-IN" dirty="0"/>
              <a:t>.</a:t>
            </a:r>
          </a:p>
          <a:p>
            <a:r>
              <a:rPr lang="en-IN" dirty="0"/>
              <a:t>It provides a practical and low-cost solution for </a:t>
            </a:r>
            <a:r>
              <a:rPr lang="en-IN" b="1" dirty="0"/>
              <a:t>elderly care, remote patient monitoring and assisted living</a:t>
            </a:r>
            <a:r>
              <a:rPr lang="en-IN" dirty="0"/>
              <a:t>, while reducing the need for continuous physical supervision.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547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Regular</vt:lpstr>
      <vt:lpstr>Georgia</vt:lpstr>
      <vt:lpstr>System Font Regular</vt:lpstr>
      <vt:lpstr>Office Theme</vt:lpstr>
      <vt:lpstr>INTELLIGENT REMOTE HEALTHCARE AND ASSISTED LIVING ECOSYSTEM</vt:lpstr>
      <vt:lpstr>INTELLIGENT REMOTE HEALTHCARE AND ASSISTED LIVING ECOSYSTEM</vt:lpstr>
      <vt:lpstr>Double Content Slide           OBJECTIVES</vt:lpstr>
      <vt:lpstr>Bulleted List Slide</vt:lpstr>
      <vt:lpstr>Comparison Slide</vt:lpstr>
      <vt:lpstr>Prototype</vt:lpstr>
      <vt:lpstr>Detection Breakdown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Naveen kumar R</cp:lastModifiedBy>
  <cp:revision>86</cp:revision>
  <dcterms:created xsi:type="dcterms:W3CDTF">2019-04-04T19:20:28Z</dcterms:created>
  <dcterms:modified xsi:type="dcterms:W3CDTF">2026-08-31T07:49:56Z</dcterms:modified>
  <cp:category/>
</cp:coreProperties>
</file>